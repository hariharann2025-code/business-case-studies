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%</c:v>
                </c:pt>
              </c:strCache>
            </c:strRef>
          </c:tx>
          <c:spPr>
            <a:solidFill>
              <a:srgbClr val="E8735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34405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18-24</c:v>
                </c:pt>
                <c:pt idx="1">
                  <c:v>25-34</c:v>
                </c:pt>
                <c:pt idx="2">
                  <c:v>35-44</c:v>
                </c:pt>
                <c:pt idx="3">
                  <c:v>45-54</c:v>
                </c:pt>
                <c:pt idx="4">
                  <c:v>55-65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40.4</c:v>
                </c:pt>
                <c:pt idx="1">
                  <c:v>29.2</c:v>
                </c:pt>
                <c:pt idx="2">
                  <c:v>24.1</c:v>
                </c:pt>
                <c:pt idx="3">
                  <c:v>28.1</c:v>
                </c:pt>
                <c:pt idx="4">
                  <c:v>31.2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6C0-42F3-B2F0-87A7E391461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5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%</c:v>
                </c:pt>
              </c:strCache>
            </c:strRef>
          </c:tx>
          <c:spPr>
            <a:solidFill>
              <a:srgbClr val="D9A94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34405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Monthly</c:v>
                </c:pt>
                <c:pt idx="1">
                  <c:v>Quarterly</c:v>
                </c:pt>
                <c:pt idx="2">
                  <c:v>Annual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</c:v>
                </c:pt>
                <c:pt idx="1">
                  <c:v>26.5</c:v>
                </c:pt>
                <c:pt idx="2">
                  <c:v>8.1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99-4C16-B90E-A45BFC39CA1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5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%</c:v>
                </c:pt>
              </c:strCache>
            </c:strRef>
          </c:tx>
          <c:spPr>
            <a:solidFill>
              <a:srgbClr val="E8735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34405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0-20</c:v>
                </c:pt>
                <c:pt idx="1">
                  <c:v>21-40</c:v>
                </c:pt>
                <c:pt idx="2">
                  <c:v>41-60</c:v>
                </c:pt>
                <c:pt idx="3">
                  <c:v>61-80</c:v>
                </c:pt>
                <c:pt idx="4">
                  <c:v>81-100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83.9</c:v>
                </c:pt>
                <c:pt idx="1">
                  <c:v>60.2</c:v>
                </c:pt>
                <c:pt idx="2">
                  <c:v>41.9</c:v>
                </c:pt>
                <c:pt idx="3">
                  <c:v>23.5</c:v>
                </c:pt>
                <c:pt idx="4">
                  <c:v>11.1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763-4D6B-B1F5-EAEB4079E0A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5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CLV</c:v>
                </c:pt>
              </c:strCache>
            </c:strRef>
          </c:tx>
          <c:spPr>
            <a:solidFill>
              <a:srgbClr val="4FD1C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943-4799-9F10-EF5F2F9A1A29}"/>
              </c:ext>
            </c:extLst>
          </c:dPt>
          <c:dPt>
            <c:idx val="1"/>
            <c:invertIfNegative val="0"/>
            <c:bubble3D val="0"/>
            <c:spPr>
              <a:solidFill>
                <a:srgbClr val="E873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943-4799-9F10-EF5F2F9A1A2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34405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Active</c:v>
                </c:pt>
                <c:pt idx="1">
                  <c:v>Churned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13032</c:v>
                </c:pt>
                <c:pt idx="1">
                  <c:v>3292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943-4799-9F10-EF5F2F9A1A2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5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Tenure</c:v>
                </c:pt>
              </c:strCache>
            </c:strRef>
          </c:tx>
          <c:spPr>
            <a:solidFill>
              <a:srgbClr val="4FD1C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CB7-4DBF-9912-EAE4FBFEC884}"/>
              </c:ext>
            </c:extLst>
          </c:dPt>
          <c:dPt>
            <c:idx val="1"/>
            <c:invertIfNegative val="0"/>
            <c:bubble3D val="0"/>
            <c:spPr>
              <a:solidFill>
                <a:srgbClr val="E873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CB7-4DBF-9912-EAE4FBFEC88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34405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Active</c:v>
                </c:pt>
                <c:pt idx="1">
                  <c:v>Churned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18.5</c:v>
                </c:pt>
                <c:pt idx="1">
                  <c:v>4.5999999999999996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CB7-4DBF-9912-EAE4FBFEC88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5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%</c:v>
                </c:pt>
              </c:strCache>
            </c:strRef>
          </c:tx>
          <c:spPr>
            <a:solidFill>
              <a:srgbClr val="E8735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34405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Hyderabad</c:v>
                </c:pt>
                <c:pt idx="1">
                  <c:v>Jaipur</c:v>
                </c:pt>
                <c:pt idx="2">
                  <c:v>Lucknow</c:v>
                </c:pt>
                <c:pt idx="3">
                  <c:v>Kochi</c:v>
                </c:pt>
                <c:pt idx="4">
                  <c:v>Ahmedabad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37.6</c:v>
                </c:pt>
                <c:pt idx="1">
                  <c:v>34.9</c:v>
                </c:pt>
                <c:pt idx="2">
                  <c:v>33.700000000000003</c:v>
                </c:pt>
                <c:pt idx="3">
                  <c:v>32.799999999999997</c:v>
                </c:pt>
                <c:pt idx="4">
                  <c:v>32.6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00-4593-A3F2-12C8E682CF9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5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%</c:v>
                </c:pt>
              </c:strCache>
            </c:strRef>
          </c:tx>
          <c:spPr>
            <a:solidFill>
              <a:srgbClr val="4FD1C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34405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Delhi</c:v>
                </c:pt>
                <c:pt idx="1">
                  <c:v>Bengaluru</c:v>
                </c:pt>
                <c:pt idx="2">
                  <c:v>Kolkata</c:v>
                </c:pt>
                <c:pt idx="3">
                  <c:v>Pune</c:v>
                </c:pt>
                <c:pt idx="4">
                  <c:v>Chennai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25.1</c:v>
                </c:pt>
                <c:pt idx="1">
                  <c:v>26.8</c:v>
                </c:pt>
                <c:pt idx="2">
                  <c:v>29.7</c:v>
                </c:pt>
                <c:pt idx="3">
                  <c:v>30.2</c:v>
                </c:pt>
                <c:pt idx="4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51-4BFE-BA9D-6D5DF931EAF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5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9502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822960" cy="822960"/>
          </a:xfrm>
          <a:prstGeom prst="roundRect">
            <a:avLst>
              <a:gd name="adj" fmla="val 16667"/>
            </a:avLst>
          </a:prstGeom>
          <a:solidFill>
            <a:srgbClr val="D9A94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BX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54480" y="5669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BOXIFY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554480" y="93268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Analytics Division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Churn &amp; Retention Analysis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640" y="2971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9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FY2023–2026 · Customer Lifecycle, Engagement &amp; Retention Strategy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97764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10565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D9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2,400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5800" y="451713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A8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Analyzed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397764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410565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87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83280" y="451713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A8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Churn Rate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397764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410565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D9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1,662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080760" y="451713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A8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Subscribers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41080" y="397764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0" y="410565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87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₹39.2L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778240" y="451713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A8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Lost to Churn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62636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C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Data Analytics Practice · Synthetic dataset built to reflect Boxify's customer lifecycle patterns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 &amp;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Analysis Exists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9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212080" cy="2103120"/>
          </a:xfrm>
          <a:prstGeom prst="roundRect">
            <a:avLst>
              <a:gd name="adj" fmla="val 4348"/>
            </a:avLst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74520"/>
            <a:ext cx="4754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Boxify is an online subscription box service delivering monthly lifestyle products to subscribers across India.</a:t>
            </a:r>
            <a:endParaRPr lang="en-US" sz="1150" dirty="0"/>
          </a:p>
          <a:p>
            <a:pPr marL="0" indent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E87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the past year, churn has risen sharply — a growing share cancel before completing 6 months, eroding recurring revenue.</a:t>
            </a:r>
            <a:endParaRPr lang="en-US" sz="1150" dirty="0"/>
          </a:p>
          <a:p>
            <a:pPr marL="0" indent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D9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wants to understand why customers leave and needs data-backed action to improve retention.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3977640"/>
            <a:ext cx="5212080" cy="1737360"/>
          </a:xfrm>
          <a:prstGeom prst="roundRect">
            <a:avLst>
              <a:gd name="adj" fmla="val 5263"/>
            </a:avLst>
          </a:prstGeom>
          <a:solidFill>
            <a:srgbClr val="232F58"/>
          </a:solidFill>
          <a:ln w="12700">
            <a:solidFill>
              <a:srgbClr val="232F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14223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9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BRIEFED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443484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are a data analyst at Boxify. Over the past year, the company has observed a rise in customer churn — subscribers canceling before completing 6 months. Management wants to understand why customers leave and take action to improve retention.”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309360" y="14173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9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691640"/>
            <a:ext cx="5340096" cy="2103120"/>
          </a:xfrm>
          <a:prstGeom prst="roundRect">
            <a:avLst>
              <a:gd name="adj" fmla="val 4348"/>
            </a:avLst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1856232"/>
            <a:ext cx="365760" cy="365760"/>
          </a:xfrm>
          <a:prstGeom prst="ellipse">
            <a:avLst/>
          </a:prstGeom>
          <a:solidFill>
            <a:srgbClr val="E8735C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856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95160" y="1828800"/>
            <a:ext cx="4471416" cy="563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Churn  —  </a:t>
            </a:r>
            <a:r>
              <a:rPr lang="en-US" sz="1150" dirty="0">
                <a:solidFill>
                  <a:srgbClr val="A8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overall churn rate by 5–10% within the next 6 months.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92240" y="2465832"/>
            <a:ext cx="365760" cy="365760"/>
          </a:xfrm>
          <a:prstGeom prst="ellipse">
            <a:avLst/>
          </a:prstGeom>
          <a:solidFill>
            <a:srgbClr val="D9A94E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24658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95160" y="2438400"/>
            <a:ext cx="4471416" cy="563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High-Risk Segments  —  </a:t>
            </a:r>
            <a:r>
              <a:rPr lang="en-US" sz="1150" dirty="0">
                <a:solidFill>
                  <a:srgbClr val="A8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Pinpoint the age groups, plans, and locations most likely to cancel.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92240" y="3075432"/>
            <a:ext cx="365760" cy="365760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30754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95160" y="3048000"/>
            <a:ext cx="4471416" cy="563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Retention  —  </a:t>
            </a:r>
            <a:r>
              <a:rPr lang="en-US" sz="1150" dirty="0">
                <a:solidFill>
                  <a:srgbClr val="A8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data-backed campaigns, offers, and loyalty incentives.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09360" y="3977640"/>
            <a:ext cx="5340096" cy="1737360"/>
          </a:xfrm>
          <a:prstGeom prst="roundRect">
            <a:avLst>
              <a:gd name="adj" fmla="val 5263"/>
            </a:avLst>
          </a:prstGeom>
          <a:solidFill>
            <a:srgbClr val="232F58"/>
          </a:solidFill>
          <a:ln w="12700">
            <a:solidFill>
              <a:srgbClr val="232F5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414223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9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KPIS TRACKED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37960" y="4434840"/>
            <a:ext cx="488289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 ·  Customer Lifetime Value (CLV)  ·  Engagement Rate  ·  Subscription Duration  ·  Retention by Segment  ·  Revenue Lost to Churn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C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Two-Year Performance at a Glance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36776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87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30.8%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2048256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A8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33672" y="150876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70832" y="1636776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1,662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370832" y="2048256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A8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Subscribers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918704" y="150876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55864" y="1636776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87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055864" y="2048256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A8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Subscribers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78892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916936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₹13,032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5800" y="3328416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A8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CLV — Active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33672" y="278892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70832" y="2916936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87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₹3,292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370832" y="3328416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A8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CLV — Churned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18704" y="278892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55864" y="2916936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D9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055864" y="3328416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A8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Happens Before Month 6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160520"/>
            <a:ext cx="10789920" cy="1920240"/>
          </a:xfrm>
          <a:prstGeom prst="roundRect">
            <a:avLst>
              <a:gd name="adj" fmla="val 4762"/>
            </a:avLst>
          </a:prstGeom>
          <a:solidFill>
            <a:srgbClr val="232F58"/>
          </a:solidFill>
          <a:ln w="12700">
            <a:solidFill>
              <a:srgbClr val="232F5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343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9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FINDING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4663440"/>
            <a:ext cx="102412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a third of Boxify subscribers cancel, and 71% of those who churn do so before completing 6 months — the exact window management flagged as the retention crisis. Monthly plans churn at 41% versus just 8% for Annual plans, and engagement score is the single strongest predictor: customers scoring below 40 churn at 4–7x the rate of highly engaged customers (81–100). Acting on subscription-tier incentives and early-tenure engagement is the fastest lever to hit the 5–10% churn reduction target.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C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Segments Churn the Most?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by Age Group (%)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12064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548640" y="1737360"/>
          <a:ext cx="512064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5943600" y="14173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by Subscription Type (%)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943600" y="1737360"/>
            <a:ext cx="539496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graphicFrame>
        <p:nvGraphicFramePr>
          <p:cNvPr id="9" name="Chart 1"/>
          <p:cNvGraphicFramePr/>
          <p:nvPr/>
        </p:nvGraphicFramePr>
        <p:xfrm>
          <a:off x="5943600" y="1737360"/>
          <a:ext cx="539496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4617720"/>
            <a:ext cx="5120640" cy="1463040"/>
          </a:xfrm>
          <a:prstGeom prst="roundRect">
            <a:avLst>
              <a:gd name="adj" fmla="val 5000"/>
            </a:avLst>
          </a:prstGeom>
          <a:solidFill>
            <a:srgbClr val="232F58"/>
          </a:solidFill>
          <a:ln w="12700">
            <a:solidFill>
              <a:srgbClr val="232F5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31520" y="47548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7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Youngest subscribers churn most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31520" y="507492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18–24-year-olds churn at 40.4% — well above the 30.8% base rate — while 35–44-year-olds are the most loyal segment at 24.1%.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943600" y="461772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232F58"/>
          </a:solidFill>
          <a:ln w="12700">
            <a:solidFill>
              <a:srgbClr val="232F5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126480" y="4754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plans are 5x riskier than Annual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126480" y="507492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subscribers churn at 41% vs. just 8.1% for Annual plans. Moving customers to longer commitments is the single biggest retention lever available.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C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Engagement Correlate with Churn?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by Engagement Score Band (%)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73152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548640" y="1737360"/>
          <a:ext cx="73152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8229600" y="1737360"/>
            <a:ext cx="3108960" cy="1303020"/>
          </a:xfrm>
          <a:prstGeom prst="roundRect">
            <a:avLst>
              <a:gd name="adj" fmla="val 5614"/>
            </a:avLst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366760" y="1991106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87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8x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366760" y="2402586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A8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Gap: Lowest vs. Highest Engagement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229600" y="3177540"/>
            <a:ext cx="3108960" cy="1303020"/>
          </a:xfrm>
          <a:prstGeom prst="roundRect">
            <a:avLst>
              <a:gd name="adj" fmla="val 5614"/>
            </a:avLst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66760" y="3431286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69.4 vs 53.0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366760" y="3842766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A8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Engagement Score: Active vs. Churned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4709160"/>
            <a:ext cx="10789920" cy="1691640"/>
          </a:xfrm>
          <a:prstGeom prst="roundRect">
            <a:avLst>
              <a:gd name="adj" fmla="val 5405"/>
            </a:avLst>
          </a:prstGeom>
          <a:solidFill>
            <a:srgbClr val="232F58"/>
          </a:solidFill>
          <a:ln w="12700">
            <a:solidFill>
              <a:srgbClr val="232F5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4892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9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2960" y="5212080"/>
            <a:ext cx="10241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is the clearest churn signal in the dataset. Subscribers scoring below 20 churn at nearly 84% — almost 8x the rate of highly engaged customers (81–100, at 11.1%). The relationship is strong and consistent across every band (correlation: -0.37), making engagement score the top candidate for an early-warning trigger in retention campaigns.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C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Lifetime Value: Churned vs. Active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CLV (₹)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12064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548640" y="1737360"/>
          <a:ext cx="512064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5943600" y="14173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Tenure (Months)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943600" y="1737360"/>
            <a:ext cx="539496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graphicFrame>
        <p:nvGraphicFramePr>
          <p:cNvPr id="9" name="Chart 1"/>
          <p:cNvGraphicFramePr/>
          <p:nvPr/>
        </p:nvGraphicFramePr>
        <p:xfrm>
          <a:off x="5943600" y="1737360"/>
          <a:ext cx="539496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448056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232F58"/>
          </a:solidFill>
          <a:ln w="12700">
            <a:solidFill>
              <a:srgbClr val="232F5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31520" y="46177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customers are worth 4x less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31520" y="493776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subscribers generate ₹13,032 in lifetime value on average — nearly 4x the ₹3,292 average from customers who cancel.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943600" y="448056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232F58"/>
          </a:solidFill>
          <a:ln w="12700">
            <a:solidFill>
              <a:srgbClr val="232F5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126480" y="4617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7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₹39.2 lakh in revenue at risk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126480" y="493776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Projecting churned customers to a 12-month benchmark tenure, Boxify is losing an estimated ₹39.2L in forgone revenue — about 16% of total revenue booked.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48640" y="5989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7C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Revenue-lost estimate: projects churned customers to a 12-month benchmark tenure at the average active-customer monthly rate (₹706/month) — illustrative, not a guarantee of recoverable revenue.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C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Churn Concentrated?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Churn Locations (%)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1206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548640" y="1737360"/>
          <a:ext cx="51206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5943600" y="14173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Churn Locations (%)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943600" y="173736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graphicFrame>
        <p:nvGraphicFramePr>
          <p:cNvPr id="9" name="Chart 1"/>
          <p:cNvGraphicFramePr/>
          <p:nvPr/>
        </p:nvGraphicFramePr>
        <p:xfrm>
          <a:off x="5943600" y="1737360"/>
          <a:ext cx="53949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4800600"/>
            <a:ext cx="10789920" cy="1600200"/>
          </a:xfrm>
          <a:prstGeom prst="roundRect">
            <a:avLst>
              <a:gd name="adj" fmla="val 5714"/>
            </a:avLst>
          </a:prstGeom>
          <a:solidFill>
            <a:srgbClr val="232F58"/>
          </a:solidFill>
          <a:ln w="12700">
            <a:solidFill>
              <a:srgbClr val="232F5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2960" y="4983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9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INSIGHT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822960" y="5285232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varies by up to 12.5 points across cities — Hyderabad (37.6%) vs. Delhi (25.1%). Tier-2/3 cities such as Jaipur, Lucknow, and Kochi consistently sit above the 30.8% company average, suggesting delivery reliability or local competition may be a factor worth investigating beyond this dataset.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C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Predict Potential Churners?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71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85.8%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A8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325880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371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383280" y="17830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A8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Score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1325880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0760" y="1371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D9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75.4%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080760" y="17830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A8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641080" y="1325880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0" y="1371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D9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79.9%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778240" y="17830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A8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233172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Churn? (Business Impact, Not Just Statistics)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595360" y="2340864"/>
            <a:ext cx="182880" cy="182880"/>
          </a:xfrm>
          <a:prstGeom prst="rect">
            <a:avLst/>
          </a:prstGeom>
          <a:solidFill>
            <a:srgbClr val="E873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33104" y="229514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odds of churning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595360" y="2587752"/>
            <a:ext cx="182880" cy="182880"/>
          </a:xfrm>
          <a:prstGeom prst="rect">
            <a:avLst/>
          </a:prstGeom>
          <a:solidFill>
            <a:srgbClr val="4FD1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33104" y="25420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Lowers odds of churning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2743200"/>
            <a:ext cx="1078992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56786" y="2907792"/>
            <a:ext cx="0" cy="1920240"/>
          </a:xfrm>
          <a:prstGeom prst="line">
            <a:avLst/>
          </a:prstGeom>
          <a:noFill/>
          <a:ln w="12700">
            <a:solidFill>
              <a:srgbClr val="D8DC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2907792"/>
            <a:ext cx="345094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34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Boxes Received (tenure)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456786" y="2994203"/>
            <a:ext cx="5784494" cy="147218"/>
          </a:xfrm>
          <a:prstGeom prst="roundRect">
            <a:avLst>
              <a:gd name="adj" fmla="val 21739"/>
            </a:avLst>
          </a:prstGeom>
          <a:solidFill>
            <a:srgbClr val="4FD1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32720" y="2907792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−85%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68680" y="3227832"/>
            <a:ext cx="345094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34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Plan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456786" y="3314243"/>
            <a:ext cx="2960353" cy="147218"/>
          </a:xfrm>
          <a:prstGeom prst="roundRect">
            <a:avLst>
              <a:gd name="adj" fmla="val 21739"/>
            </a:avLst>
          </a:prstGeom>
          <a:solidFill>
            <a:srgbClr val="E873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08579" y="3227832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87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+166%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68680" y="3547872"/>
            <a:ext cx="345094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34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Spent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456786" y="3634283"/>
            <a:ext cx="2591066" cy="147218"/>
          </a:xfrm>
          <a:prstGeom prst="roundRect">
            <a:avLst>
              <a:gd name="adj" fmla="val 21739"/>
            </a:avLst>
          </a:prstGeom>
          <a:solidFill>
            <a:srgbClr val="4FD1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9292" y="3547872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−58%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68680" y="3867912"/>
            <a:ext cx="345094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34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Score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456786" y="3954323"/>
            <a:ext cx="2524473" cy="147218"/>
          </a:xfrm>
          <a:prstGeom prst="roundRect">
            <a:avLst>
              <a:gd name="adj" fmla="val 21739"/>
            </a:avLst>
          </a:prstGeom>
          <a:solidFill>
            <a:srgbClr val="4FD1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72699" y="3867912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−57%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68680" y="4187952"/>
            <a:ext cx="345094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34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Plan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4456786" y="4274363"/>
            <a:ext cx="1449907" cy="147218"/>
          </a:xfrm>
          <a:prstGeom prst="roundRect">
            <a:avLst>
              <a:gd name="adj" fmla="val 21739"/>
            </a:avLst>
          </a:prstGeom>
          <a:solidFill>
            <a:srgbClr val="E873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98133" y="4187952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87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+61%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868680" y="4507992"/>
            <a:ext cx="345094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34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4456786" y="4594403"/>
            <a:ext cx="599335" cy="147218"/>
          </a:xfrm>
          <a:prstGeom prst="roundRect">
            <a:avLst>
              <a:gd name="adj" fmla="val 21739"/>
            </a:avLst>
          </a:prstGeom>
          <a:solidFill>
            <a:srgbClr val="4FD1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47561" y="4507992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−18%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548640" y="505663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length = statistical strength. Labels show plain-language impact: % change in odds of churning (per +1 SD, or vs. Annual plan for plan-type factors).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48640" y="5440680"/>
            <a:ext cx="10789920" cy="914400"/>
          </a:xfrm>
          <a:prstGeom prst="roundRect">
            <a:avLst>
              <a:gd name="adj" fmla="val 10000"/>
            </a:avLst>
          </a:prstGeom>
          <a:solidFill>
            <a:srgbClr val="232F58"/>
          </a:solidFill>
          <a:ln w="12700">
            <a:solidFill>
              <a:srgbClr val="232F5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2960" y="544068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logistic regression trained on engagement, tenure (boxes received), spend, age, and plan type flags 135 currently-active subscribers (8.1% of the active base) as high-risk (≥60% predicted churn probability) — a ready-made target list for retention outreach.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C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9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 (0–3 MONTHS)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120640" cy="4480560"/>
          </a:xfrm>
          <a:prstGeom prst="roundRect">
            <a:avLst>
              <a:gd name="adj" fmla="val 2041"/>
            </a:avLst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6596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1–30 engagement nudges</a:t>
            </a:r>
            <a:endParaRPr lang="en-US" sz="12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A8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and box-tracking reminders in the first month, when 71% of churn happens.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Risk-based outreach to the 135 flagged accounts</a:t>
            </a:r>
            <a:endParaRPr lang="en-US" sz="12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A8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retention offers for customers the model scores at 60%+ churn probability.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→ Quarterly upgrade incentive</a:t>
            </a:r>
            <a:endParaRPr lang="en-US" sz="12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A8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free box or 15% off on upgrade; Monthly plans churn 5x more than Annual.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18–24 age segment welcome series</a:t>
            </a:r>
            <a:endParaRPr lang="en-US" sz="12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A8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onboarding content for the highest-churn age group (40.4%).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0" y="14630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(3–12 MONTHS)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0" y="178308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1965960"/>
            <a:ext cx="4846320" cy="41148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Boxify Loyalty program</a:t>
            </a:r>
            <a:endParaRPr lang="en-US" sz="12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A8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rewards at 3, 6, and 12 months to extend tenure past the critical 6-month cliff.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churn-risk dashboard (Power BI)</a:t>
            </a:r>
            <a:endParaRPr lang="en-US" sz="12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A8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Operationalize the predictive model so support teams see risk scores in real time.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City-level service review</a:t>
            </a:r>
            <a:endParaRPr lang="en-US" sz="12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A8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delivery reliability and local competition in Hyderabad, Jaipur, Lucknow, and Kochi.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Annual-plan-first pricing page</a:t>
            </a:r>
            <a:endParaRPr lang="en-US" sz="12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A8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 checkout to default-highlight Annual plans (8.1% churn vs. 41% for Monthly).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C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&amp; ASSUMPTIONS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Assumed, As Briefed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212080" cy="2103120"/>
          </a:xfrm>
          <a:prstGeom prst="roundRect">
            <a:avLst>
              <a:gd name="adj" fmla="val 4348"/>
            </a:avLst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9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Years of Historical Data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covers only the last 3 years of subscriber activity, per the case brief — no earlier history is available or assumed.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35040" y="1463040"/>
            <a:ext cx="5212080" cy="2103120"/>
          </a:xfrm>
          <a:prstGeom prst="roundRect">
            <a:avLst>
              <a:gd name="adj" fmla="val 4348"/>
            </a:avLst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63640" y="16459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9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Renewal Assumed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263640" y="210312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subscriber is assumed to renew on a monthly cycle, regardless of billing tier (Monthly / Quarterly / Annual pricing).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5212080" cy="2103120"/>
          </a:xfrm>
          <a:prstGeom prst="roundRect">
            <a:avLst>
              <a:gd name="adj" fmla="val 4348"/>
            </a:avLst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9776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9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Measured at Cycle End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77240" y="443484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subscriber counts as churned only once their subscription cycle formally ends — not at the moment they stop engaging.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3794760"/>
            <a:ext cx="5212080" cy="2103120"/>
          </a:xfrm>
          <a:prstGeom prst="roundRect">
            <a:avLst>
              <a:gd name="adj" fmla="val 4348"/>
            </a:avLst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39776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9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Data Used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263640" y="443484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relies only on the 11 provided fields (CustomerID through PaymentMode) — no external behavioral, demographic, or competitor data.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98932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7C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is synthetic — built to reflect these constraints and the patterns described in the business brief. Figures throughout this report are illustrative, not Boxify's actual financials.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C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4648" y="1463040"/>
            <a:ext cx="822960" cy="822960"/>
          </a:xfrm>
          <a:prstGeom prst="roundRect">
            <a:avLst>
              <a:gd name="adj" fmla="val 16667"/>
            </a:avLst>
          </a:prstGeom>
          <a:solidFill>
            <a:srgbClr val="D9A94E"/>
          </a:solidFill>
          <a:ln/>
        </p:spPr>
      </p:sp>
      <p:sp>
        <p:nvSpPr>
          <p:cNvPr id="3" name="Text 1"/>
          <p:cNvSpPr/>
          <p:nvPr/>
        </p:nvSpPr>
        <p:spPr>
          <a:xfrm>
            <a:off x="5184648" y="1463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BX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25146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Boxify Customer Analytics · Subscription Churn Case Study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411480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424281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D9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30.8%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34440" y="465429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A8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94760" y="411480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0" y="424281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₹13,032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931920" y="465429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A8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CLV (Active)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92240" y="411480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424281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D9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85.8%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629400" y="465429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A8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411480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1E2748"/>
          </a:solidFill>
          <a:ln w="12700">
            <a:solidFill>
              <a:srgbClr val="1E27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0" y="424281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326880" y="465429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A8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Accounts Flagged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1282</Words>
  <Application>Microsoft Office PowerPoint</Application>
  <PresentationFormat>Widescreen</PresentationFormat>
  <Paragraphs>168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Boxify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Boxify Analytics</dc:creator>
  <cp:lastModifiedBy>Hariharan Nagarajan</cp:lastModifiedBy>
  <cp:revision>1</cp:revision>
  <dcterms:created xsi:type="dcterms:W3CDTF">2026-07-27T04:42:45Z</dcterms:created>
  <dcterms:modified xsi:type="dcterms:W3CDTF">2026-07-27T04:46:47Z</dcterms:modified>
</cp:coreProperties>
</file>